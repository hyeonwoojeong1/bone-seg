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H100 서버 접속 &amp; Docker 학습 환경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8D0E8"/>
                </a:solidFill>
                <a:latin typeface="Malgun Gothic"/>
              </a:rPr>
              <a:t>SSH 접속부터 Docker 이미지 빌드·컨테이너 실행까지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88A5C0"/>
                </a:solidFill>
                <a:latin typeface="Malgun Gothic"/>
              </a:rPr>
              <a:t>하지 뼈 분할 모델 (nnU-Net) 학습 파이프라인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전체 흐름 한눈에 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867" y="2377440"/>
            <a:ext cx="246888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867" y="2377440"/>
            <a:ext cx="246888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867" y="242316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1. 서버 접속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867" y="30175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6FB2"/>
                </a:solidFill>
                <a:latin typeface="Malgun Gothic"/>
              </a:rPr>
              <a:t>SSH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352044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Malgun Gothic"/>
              </a:rPr>
              <a:t>터미널로</a:t>
            </a:r>
          </a:p>
          <a:p>
            <a:pPr algn="ctr"/>
            <a:r>
              <a:rPr sz="1400" b="0">
                <a:solidFill>
                  <a:srgbClr val="555F6B"/>
                </a:solidFill>
                <a:latin typeface="Malgun Gothic"/>
              </a:rPr>
              <a:t>H100 서버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4027" y="3017520"/>
            <a:ext cx="502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E87A17"/>
                </a:solidFill>
                <a:latin typeface="Malgun Gothic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1227" y="2377440"/>
            <a:ext cx="246888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1227" y="2377440"/>
            <a:ext cx="246888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42316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2. 이미지 빌드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30175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6FB2"/>
                </a:solidFill>
                <a:latin typeface="Malgun Gothic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52044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Malgun Gothic"/>
              </a:rPr>
              <a:t>Dockerfile로</a:t>
            </a:r>
          </a:p>
          <a:p>
            <a:pPr algn="ctr"/>
            <a:r>
              <a:rPr sz="1400" b="0">
                <a:solidFill>
                  <a:srgbClr val="555F6B"/>
                </a:solidFill>
                <a:latin typeface="Malgun Gothic"/>
              </a:rPr>
              <a:t>학습 환경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4387" y="3017520"/>
            <a:ext cx="502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E87A17"/>
                </a:solidFill>
                <a:latin typeface="Malgun Gothic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1587" y="2377440"/>
            <a:ext cx="246888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1587" y="2377440"/>
            <a:ext cx="246888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1587" y="242316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3. 컨테이너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30175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6FB2"/>
                </a:solidFill>
                <a:latin typeface="Malgun Gothic"/>
              </a:rP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352044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Malgun Gothic"/>
              </a:rPr>
              <a:t>GPU 붙여</a:t>
            </a:r>
          </a:p>
          <a:p>
            <a:pPr algn="ctr"/>
            <a:r>
              <a:rPr sz="1400" b="0">
                <a:solidFill>
                  <a:srgbClr val="555F6B"/>
                </a:solidFill>
                <a:latin typeface="Malgun Gothic"/>
              </a:rPr>
              <a:t>학습 자동 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4747" y="3017520"/>
            <a:ext cx="502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E87A17"/>
                </a:solidFill>
                <a:latin typeface="Malgun Gothic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1947" y="2377440"/>
            <a:ext cx="2468880" cy="2011680"/>
          </a:xfrm>
          <a:prstGeom prst="rect">
            <a:avLst/>
          </a:prstGeom>
          <a:solidFill>
            <a:srgbClr val="F2F5F8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1947" y="2377440"/>
            <a:ext cx="246888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1947" y="242316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4. 모니터링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1947" y="30175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6FB2"/>
                </a:solidFill>
                <a:latin typeface="Malgun Gothic"/>
              </a:rPr>
              <a:t>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1947" y="352044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Malgun Gothic"/>
              </a:rPr>
              <a:t>진행·GPU</a:t>
            </a:r>
          </a:p>
          <a:p>
            <a:pPr algn="ctr"/>
            <a:r>
              <a:rPr sz="1400" b="0">
                <a:solidFill>
                  <a:srgbClr val="555F6B"/>
                </a:solidFill>
                <a:latin typeface="Malgun Gothic"/>
              </a:rPr>
              <a:t>상태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2A4A"/>
                </a:solidFill>
                <a:latin typeface="Malgun Gothic"/>
              </a:rPr>
              <a:t>핵심: Docker는 '학습에 필요한 모든 프로그램(nnU-Net·PyTorch 등)을 담은 상자'입니다.</a:t>
            </a:r>
          </a:p>
          <a:p>
            <a:pPr algn="ctr"/>
            <a:r>
              <a:rPr sz="1600" b="0">
                <a:solidFill>
                  <a:srgbClr val="0F2A4A"/>
                </a:solidFill>
                <a:latin typeface="Malgun Gothic"/>
              </a:rPr>
              <a:t>한 번 만들어 두면 어디서든 똑같은 환경으로 실행 → 재현성·안정성 확보.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algun Gothic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사전 준비물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2A4A"/>
                </a:solidFill>
                <a:latin typeface="Malgun Gothic"/>
              </a:rPr>
              <a:t>🔑  </a:t>
            </a:r>
            <a:r>
              <a:rPr sz="1700">
                <a:solidFill>
                  <a:srgbClr val="555F6B"/>
                </a:solidFill>
                <a:latin typeface="Malgun Gothic"/>
              </a:rPr>
              <a:t>SSH 키 파일 (.pem) — 서버 접속용 열쇠. 예: ad067.pem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F2A4A"/>
                </a:solidFill>
                <a:latin typeface="Malgun Gothic"/>
              </a:rPr>
              <a:t>🌐  </a:t>
            </a:r>
            <a:r>
              <a:rPr sz="1700">
                <a:solidFill>
                  <a:srgbClr val="555F6B"/>
                </a:solidFill>
                <a:latin typeface="Malgun Gothic"/>
              </a:rPr>
              <a:t>서버 공인 IP — 114.110.134.100 (사용자: ubuntu)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F2A4A"/>
                </a:solidFill>
                <a:latin typeface="Malgun Gothic"/>
              </a:rPr>
              <a:t>📁  </a:t>
            </a:r>
            <a:r>
              <a:rPr sz="1700">
                <a:solidFill>
                  <a:srgbClr val="555F6B"/>
                </a:solidFill>
                <a:latin typeface="Malgun Gothic"/>
              </a:rPr>
              <a:t>코드·데이터 위치 — /data1/bone (10TB NAS, 영구 저장소)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F2A4A"/>
                </a:solidFill>
                <a:latin typeface="Malgun Gothic"/>
              </a:rPr>
              <a:t>🖥  </a:t>
            </a:r>
            <a:r>
              <a:rPr sz="1700">
                <a:solidFill>
                  <a:srgbClr val="555F6B"/>
                </a:solidFill>
                <a:latin typeface="Malgun Gothic"/>
              </a:rPr>
              <a:t>서버 자원 — CPU 124코어 · RAM 1.7TB · H100 80GB GPU 8장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7A17"/>
                </a:solidFill>
                <a:latin typeface="Malgun Gothic"/>
              </a:rPr>
              <a:t>키 파일은 안전한 곳에 보관하고, 절대 외부에 공유하지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SSH로 서버 접속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  <a:latin typeface="Malgun Gothic"/>
              </a:rPr>
              <a:t>터미널(또는 VS Code 터미널)에서 키 파일로 서버에 연결합니다.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0881360" cy="65836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ssh -i ad067.pem ubuntu@114.110.134.100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접속 후 작업 폴더로 이동: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10881360" cy="65836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cd /data1/bone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•  </a:t>
            </a:r>
            <a:r>
              <a:rPr sz="1500">
                <a:solidFill>
                  <a:srgbClr val="555F6B"/>
                </a:solidFill>
                <a:latin typeface="Malgun Gothic"/>
              </a:rPr>
              <a:t>-i ad067.pem : 접속 열쇠(키 파일) 지정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•  </a:t>
            </a:r>
            <a:r>
              <a:rPr sz="1500">
                <a:solidFill>
                  <a:srgbClr val="555F6B"/>
                </a:solidFill>
                <a:latin typeface="Malgun Gothic"/>
              </a:rPr>
              <a:t>ubuntu@... : 서버 사용자@IP 주소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•  </a:t>
            </a:r>
            <a:r>
              <a:rPr sz="1500">
                <a:solidFill>
                  <a:srgbClr val="555F6B"/>
                </a:solidFill>
                <a:latin typeface="Malgun Gothic"/>
              </a:rPr>
              <a:t>VS Code의 Remote-SSH로 접속하면 편집·터미널을 한 화면에서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Docker 이미지 빌드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F6B"/>
                </a:solidFill>
                <a:latin typeface="Malgun Gothic"/>
              </a:rPr>
              <a:t>Dockerfile(환경 설계도)로 학습에 필요한 프로그램을 담은 '이미지'를 만듭니다.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881360" cy="1042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106070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cd /data1/bone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sudo docker build -t bone-nnunet:2.8.1 -f ai_bone/docker/Dockerfile ai_bone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Dockerfile이 하는 일 (자동):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①  </a:t>
            </a:r>
            <a:r>
              <a:rPr sz="1500">
                <a:solidFill>
                  <a:srgbClr val="555F6B"/>
                </a:solidFill>
                <a:latin typeface="Malgun Gothic"/>
              </a:rPr>
              <a:t>PyTorch + CUDA 베이스 이미지 가져오기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②  </a:t>
            </a:r>
            <a:r>
              <a:rPr sz="1500">
                <a:solidFill>
                  <a:srgbClr val="555F6B"/>
                </a:solidFill>
                <a:latin typeface="Malgun Gothic"/>
              </a:rPr>
              <a:t>nnU-Net·pydicom 등 라이브러리 설치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③  </a:t>
            </a:r>
            <a:r>
              <a:rPr sz="1500">
                <a:solidFill>
                  <a:srgbClr val="555F6B"/>
                </a:solidFill>
                <a:latin typeface="Malgun Gothic"/>
              </a:rPr>
              <a:t>커스텀 학습 코드(트레이너) 삽입 + 경로 설정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 w="12700">
            <a:solidFill>
              <a:srgbClr val="E87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93792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5400"/>
                </a:solidFill>
                <a:latin typeface="Malgun Gothic"/>
              </a:rPr>
              <a:t>⚠  주의: .dockerignore 필수!</a:t>
            </a:r>
          </a:p>
          <a:p>
            <a:pPr algn="l"/>
            <a:r>
              <a:rPr sz="1400" b="0">
                <a:solidFill>
                  <a:srgbClr val="9A5400"/>
                </a:solidFill>
                <a:latin typeface="Malgun Gothic"/>
              </a:rPr>
              <a:t>빌드 컨텍스트에 대용량 데이터가 있으면 123GB를 통째로 복사해 디스크가 찹니다.</a:t>
            </a:r>
          </a:p>
          <a:p>
            <a:pPr algn="l"/>
            <a:r>
              <a:rPr sz="1400" b="0">
                <a:solidFill>
                  <a:srgbClr val="9A5400"/>
                </a:solidFill>
                <a:latin typeface="Malgun Gothic"/>
              </a:rPr>
              <a:t>필요한 파일만 남기도록 .dockerignore로 data/·결과 폴더를 제외하세요.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컨테이너 실행 (학습 시작)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181051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88136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CDCFE"/>
                </a:solidFill>
                <a:latin typeface="Consolas"/>
              </a:rPr>
              <a:t>sudo docker run -d --name bone-train --gpus all \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--shm-size=256g --ulimit memlock=-1 \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-v /data1:/data1 -v /home/ubuntu/nnunet_pre:/nnunet_pre \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  bone-nnunet:2.8.1 bash /data1/bone/ai_bone/docker/run_all.sh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옵션 해설: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-d  </a:t>
            </a:r>
            <a:r>
              <a:rPr sz="1400">
                <a:solidFill>
                  <a:srgbClr val="555F6B"/>
                </a:solidFill>
                <a:latin typeface="Malgun Gothic"/>
              </a:rPr>
              <a:t>백그라운드 실행 — 터미널 닫혀도 계속 (detached)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--gpus all  </a:t>
            </a:r>
            <a:r>
              <a:rPr sz="1400">
                <a:solidFill>
                  <a:srgbClr val="555F6B"/>
                </a:solidFill>
                <a:latin typeface="Malgun Gothic"/>
              </a:rPr>
              <a:t>컨테이너에 GPU 연결 (8장 인식)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--shm-size=256g  </a:t>
            </a:r>
            <a:r>
              <a:rPr sz="1400">
                <a:solidFill>
                  <a:srgbClr val="555F6B"/>
                </a:solidFill>
                <a:latin typeface="Malgun Gothic"/>
              </a:rPr>
              <a:t>공유메모리 크게 — 데이터 로더 worker 안정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-v A:B  </a:t>
            </a:r>
            <a:r>
              <a:rPr sz="1400">
                <a:solidFill>
                  <a:srgbClr val="555F6B"/>
                </a:solidFill>
                <a:latin typeface="Malgun Gothic"/>
              </a:rPr>
              <a:t>서버 폴더(A)를 컨테이너(B)에 연결 → 결과가 서버에 영구 저장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진행 상황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학습 로그 보기: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042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106070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sudo docker logs -f bone-train              # 전처리→학습 단계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tail -f /data1/bone/train_logs/d490_f0.log  # fold별 상세(dice/loss)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GPU 사용률 보기: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29000"/>
            <a:ext cx="10881360" cy="65836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3872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nvidia-smi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•  </a:t>
            </a:r>
            <a:r>
              <a:rPr sz="1500">
                <a:solidFill>
                  <a:srgbClr val="555F6B"/>
                </a:solidFill>
                <a:latin typeface="Malgun Gothic"/>
              </a:rPr>
              <a:t>전처리(CPU) 단계에는 GPU가 0% — 정상. 끝나면 GPU가 올라갑니다.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•  </a:t>
            </a:r>
            <a:r>
              <a:rPr sz="1500">
                <a:solidFill>
                  <a:srgbClr val="555F6B"/>
                </a:solidFill>
                <a:latin typeface="Malgun Gothic"/>
              </a:rPr>
              <a:t>필요 시 중단: sudo docker stop bone-train (체크포인트로 재개 가능)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안전성 &amp; 저장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6FB2"/>
                </a:solidFill>
                <a:latin typeface="Malgun Gothic"/>
              </a:rPr>
              <a:t>✅ 안전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•  </a:t>
            </a:r>
            <a:r>
              <a:rPr sz="1500">
                <a:solidFill>
                  <a:srgbClr val="555F6B"/>
                </a:solidFill>
                <a:latin typeface="Malgun Gothic"/>
              </a:rPr>
              <a:t>detached(-d): 접속 끊겨도 학습 유지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•  </a:t>
            </a:r>
            <a:r>
              <a:rPr sz="1500">
                <a:solidFill>
                  <a:srgbClr val="555F6B"/>
                </a:solidFill>
                <a:latin typeface="Malgun Gothic"/>
              </a:rPr>
              <a:t>마운트(-v): 결과가 컨테이너 밖 NAS에 저장 → 컨테이너 삭제해도 보존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•  </a:t>
            </a:r>
            <a:r>
              <a:rPr sz="1500">
                <a:solidFill>
                  <a:srgbClr val="555F6B"/>
                </a:solidFill>
                <a:latin typeface="Malgun Gothic"/>
              </a:rPr>
              <a:t>checkpoint 자동 저장 → 중단돼도 재개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34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6FB2"/>
                </a:solidFill>
                <a:latin typeface="Malgun Gothic"/>
              </a:rPr>
              <a:t>📁 저장 위치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783080"/>
            <a:ext cx="5120640" cy="257860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92808"/>
            <a:ext cx="4846320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CDCFE"/>
                </a:solidFill>
                <a:latin typeface="Consolas"/>
              </a:rPr>
              <a:t>/data1  (NAS 10TB · 영구)</a:t>
            </a:r>
          </a:p>
          <a:p>
            <a:r>
              <a:rPr sz="1300">
                <a:solidFill>
                  <a:srgbClr val="9CDCFE"/>
                </a:solidFill>
                <a:latin typeface="Consolas"/>
              </a:rPr>
              <a:t> ├ raw/      학습용 데이터</a:t>
            </a:r>
          </a:p>
          <a:p>
            <a:r>
              <a:rPr sz="1300">
                <a:solidFill>
                  <a:srgbClr val="9CDCFE"/>
                </a:solidFill>
                <a:latin typeface="Consolas"/>
              </a:rPr>
              <a:t> ├ results/  학습 체크포인트</a:t>
            </a:r>
          </a:p>
          <a:p>
            <a:r>
              <a:rPr sz="1300">
                <a:solidFill>
                  <a:srgbClr val="9CDCFE"/>
                </a:solidFill>
                <a:latin typeface="Consolas"/>
              </a:rPr>
              <a:t> └ mako/     환자 CT·추론</a:t>
            </a:r>
          </a:p>
          <a:p>
            <a:r>
              <a:rPr sz="1300">
                <a:solidFill>
                  <a:srgbClr val="9CDCFE"/>
                </a:solidFill>
                <a:latin typeface="Consolas"/>
              </a:rPr>
              <a:t>/home/ubuntu/nnunet_pre</a:t>
            </a:r>
          </a:p>
          <a:p>
            <a:r>
              <a:rPr sz="1300">
                <a:solidFill>
                  <a:srgbClr val="9CDCFE"/>
                </a:solidFill>
                <a:latin typeface="Consolas"/>
              </a:rPr>
              <a:t>   (SSD · 전처리, 빠름)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solidFill>
            <a:srgbClr val="F2F5F8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4A"/>
                </a:solidFill>
                <a:latin typeface="Malgun Gothic"/>
              </a:rPr>
              <a:t>관리 팁: 학습 결과·데이터는 /data1(영구 NAS)에 두고, 전처리 데이터만 속도를 위해 SSD에 둡니다.</a:t>
            </a:r>
          </a:p>
          <a:p>
            <a:pPr algn="l"/>
            <a:r>
              <a:rPr sz="1400" b="0">
                <a:solidFill>
                  <a:srgbClr val="0F2A4A"/>
                </a:solidFill>
                <a:latin typeface="Malgun Gothic"/>
              </a:rPr>
              <a:t>데이터셋은 Dataset490 처럼 번호로 구분되어 버전 관리가 자동으로 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